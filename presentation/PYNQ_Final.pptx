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65" r:id="rId18"/>
    <p:sldId id="264" r:id="rId17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762444-9191-43B8-B491-748A5ECAE50A}" v="1" dt="2026-04-04T15:48:13.2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99" autoAdjust="0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3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4.xml"/><Relationship Id="rId4" Type="http://schemas.openxmlformats.org/officeDocument/2006/relationships/slide" Target="slides/slide5.xml"/><Relationship Id="rId5" Type="http://schemas.openxmlformats.org/officeDocument/2006/relationships/slide" Target="slides/slide6.xml"/><Relationship Id="rId6" Type="http://schemas.openxmlformats.org/officeDocument/2006/relationships/slide" Target="slides/slide7.xml"/><Relationship Id="rId7" Type="http://schemas.openxmlformats.org/officeDocument/2006/relationships/slide" Target="slides/slide8.xml"/><Relationship Id="rId8" Type="http://schemas.openxmlformats.org/officeDocument/2006/relationships/slide" Target="slides/slide9.xml"/><Relationship Id="rId9" Type="http://schemas.openxmlformats.org/officeDocument/2006/relationships/slide" Target="slides/slide10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3.xml"/><Relationship Id="rId18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hargav siyyadri" userId="811459fc17ae14f9" providerId="LiveId" clId="{EF952460-C8FB-4D8B-8217-931FBF6EC138}"/>
    <pc:docChg chg="custSel modSld">
      <pc:chgData name="Bhargav siyyadri" userId="811459fc17ae14f9" providerId="LiveId" clId="{EF952460-C8FB-4D8B-8217-931FBF6EC138}" dt="2026-04-04T16:04:48.753" v="126" actId="478"/>
      <pc:docMkLst>
        <pc:docMk/>
      </pc:docMkLst>
      <pc:sldChg chg="addSp delSp modSp mod">
        <pc:chgData name="Bhargav siyyadri" userId="811459fc17ae14f9" providerId="LiveId" clId="{EF952460-C8FB-4D8B-8217-931FBF6EC138}" dt="2026-04-04T16:03:48.110" v="110" actId="478"/>
        <pc:sldMkLst>
          <pc:docMk/>
          <pc:sldMk cId="0" sldId="256"/>
        </pc:sldMkLst>
        <pc:spChg chg="mod">
          <ac:chgData name="Bhargav siyyadri" userId="811459fc17ae14f9" providerId="LiveId" clId="{EF952460-C8FB-4D8B-8217-931FBF6EC138}" dt="2026-04-04T15:48:41.950" v="7" actId="20577"/>
          <ac:spMkLst>
            <pc:docMk/>
            <pc:sldMk cId="0" sldId="256"/>
            <ac:spMk id="30" creationId="{00000000-0000-0000-0000-000000000000}"/>
          </ac:spMkLst>
        </pc:spChg>
        <pc:spChg chg="mod">
          <ac:chgData name="Bhargav siyyadri" userId="811459fc17ae14f9" providerId="LiveId" clId="{EF952460-C8FB-4D8B-8217-931FBF6EC138}" dt="2026-04-04T15:48:50.111" v="82" actId="20577"/>
          <ac:spMkLst>
            <pc:docMk/>
            <pc:sldMk cId="0" sldId="256"/>
            <ac:spMk id="42" creationId="{00000000-0000-0000-0000-000000000000}"/>
          </ac:spMkLst>
        </pc:spChg>
        <pc:picChg chg="add del">
          <ac:chgData name="Bhargav siyyadri" userId="811459fc17ae14f9" providerId="LiveId" clId="{EF952460-C8FB-4D8B-8217-931FBF6EC138}" dt="2026-04-04T16:03:48.110" v="110" actId="478"/>
          <ac:picMkLst>
            <pc:docMk/>
            <pc:sldMk cId="0" sldId="256"/>
            <ac:picMk id="44" creationId="{7832895A-88DB-6B28-0865-E977098855CA}"/>
          </ac:picMkLst>
        </pc:picChg>
      </pc:sldChg>
      <pc:sldChg chg="delSp modSp mod">
        <pc:chgData name="Bhargav siyyadri" userId="811459fc17ae14f9" providerId="LiveId" clId="{EF952460-C8FB-4D8B-8217-931FBF6EC138}" dt="2026-04-04T16:04:48.753" v="126" actId="478"/>
        <pc:sldMkLst>
          <pc:docMk/>
          <pc:sldMk cId="0" sldId="262"/>
        </pc:sldMkLst>
        <pc:spChg chg="del mod">
          <ac:chgData name="Bhargav siyyadri" userId="811459fc17ae14f9" providerId="LiveId" clId="{EF952460-C8FB-4D8B-8217-931FBF6EC138}" dt="2026-04-04T16:04:03.022" v="114" actId="478"/>
          <ac:spMkLst>
            <pc:docMk/>
            <pc:sldMk cId="0" sldId="262"/>
            <ac:spMk id="35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3:58.875" v="112" actId="478"/>
          <ac:spMkLst>
            <pc:docMk/>
            <pc:sldMk cId="0" sldId="262"/>
            <ac:spMk id="36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07.257" v="115" actId="478"/>
          <ac:spMkLst>
            <pc:docMk/>
            <pc:sldMk cId="0" sldId="262"/>
            <ac:spMk id="37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09.186" v="116" actId="478"/>
          <ac:spMkLst>
            <pc:docMk/>
            <pc:sldMk cId="0" sldId="262"/>
            <ac:spMk id="38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11.735" v="117" actId="478"/>
          <ac:spMkLst>
            <pc:docMk/>
            <pc:sldMk cId="0" sldId="262"/>
            <ac:spMk id="39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28.813" v="118" actId="478"/>
          <ac:spMkLst>
            <pc:docMk/>
            <pc:sldMk cId="0" sldId="262"/>
            <ac:spMk id="40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31.178" v="119" actId="478"/>
          <ac:spMkLst>
            <pc:docMk/>
            <pc:sldMk cId="0" sldId="262"/>
            <ac:spMk id="41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4:35.448" v="121" actId="478"/>
          <ac:spMkLst>
            <pc:docMk/>
            <pc:sldMk cId="0" sldId="262"/>
            <ac:spMk id="42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4:39.673" v="122" actId="478"/>
          <ac:spMkLst>
            <pc:docMk/>
            <pc:sldMk cId="0" sldId="262"/>
            <ac:spMk id="43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4:41.177" v="123" actId="478"/>
          <ac:spMkLst>
            <pc:docMk/>
            <pc:sldMk cId="0" sldId="262"/>
            <ac:spMk id="44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4:43.832" v="124" actId="478"/>
          <ac:spMkLst>
            <pc:docMk/>
            <pc:sldMk cId="0" sldId="262"/>
            <ac:spMk id="45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4:46.242" v="125" actId="478"/>
          <ac:spMkLst>
            <pc:docMk/>
            <pc:sldMk cId="0" sldId="262"/>
            <ac:spMk id="46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4:48.753" v="126" actId="478"/>
          <ac:spMkLst>
            <pc:docMk/>
            <pc:sldMk cId="0" sldId="262"/>
            <ac:spMk id="47" creationId="{00000000-0000-0000-0000-000000000000}"/>
          </ac:spMkLst>
        </pc:spChg>
      </pc:sldChg>
      <pc:sldChg chg="delSp modSp mod">
        <pc:chgData name="Bhargav siyyadri" userId="811459fc17ae14f9" providerId="LiveId" clId="{EF952460-C8FB-4D8B-8217-931FBF6EC138}" dt="2026-04-04T16:00:58.690" v="96" actId="1076"/>
        <pc:sldMkLst>
          <pc:docMk/>
          <pc:sldMk cId="0" sldId="263"/>
        </pc:sldMkLst>
        <pc:spChg chg="mod">
          <ac:chgData name="Bhargav siyyadri" userId="811459fc17ae14f9" providerId="LiveId" clId="{EF952460-C8FB-4D8B-8217-931FBF6EC138}" dt="2026-04-04T16:00:47.196" v="94" actId="20577"/>
          <ac:spMkLst>
            <pc:docMk/>
            <pc:sldMk cId="0" sldId="263"/>
            <ac:spMk id="4" creationId="{00000000-0000-0000-0000-000000000000}"/>
          </ac:spMkLst>
        </pc:spChg>
        <pc:spChg chg="mod">
          <ac:chgData name="Bhargav siyyadri" userId="811459fc17ae14f9" providerId="LiveId" clId="{EF952460-C8FB-4D8B-8217-931FBF6EC138}" dt="2026-04-04T16:00:58.690" v="96" actId="1076"/>
          <ac:spMkLst>
            <pc:docMk/>
            <pc:sldMk cId="0" sldId="263"/>
            <ac:spMk id="5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48.415" v="95" actId="478"/>
          <ac:spMkLst>
            <pc:docMk/>
            <pc:sldMk cId="0" sldId="263"/>
            <ac:spMk id="6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44.561" v="93" actId="478"/>
          <ac:spMkLst>
            <pc:docMk/>
            <pc:sldMk cId="0" sldId="263"/>
            <ac:spMk id="7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41.965" v="92" actId="478"/>
          <ac:spMkLst>
            <pc:docMk/>
            <pc:sldMk cId="0" sldId="263"/>
            <ac:spMk id="8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23.757" v="84" actId="478"/>
          <ac:spMkLst>
            <pc:docMk/>
            <pc:sldMk cId="0" sldId="263"/>
            <ac:spMk id="9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22.226" v="83" actId="478"/>
          <ac:spMkLst>
            <pc:docMk/>
            <pc:sldMk cId="0" sldId="263"/>
            <ac:spMk id="10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25.529" v="85" actId="478"/>
          <ac:spMkLst>
            <pc:docMk/>
            <pc:sldMk cId="0" sldId="263"/>
            <ac:spMk id="11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36.674" v="91" actId="478"/>
          <ac:spMkLst>
            <pc:docMk/>
            <pc:sldMk cId="0" sldId="263"/>
            <ac:spMk id="12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31.862" v="88" actId="478"/>
          <ac:spMkLst>
            <pc:docMk/>
            <pc:sldMk cId="0" sldId="263"/>
            <ac:spMk id="13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33.507" v="89" actId="478"/>
          <ac:spMkLst>
            <pc:docMk/>
            <pc:sldMk cId="0" sldId="263"/>
            <ac:spMk id="14" creationId="{00000000-0000-0000-0000-000000000000}"/>
          </ac:spMkLst>
        </pc:spChg>
        <pc:spChg chg="del">
          <ac:chgData name="Bhargav siyyadri" userId="811459fc17ae14f9" providerId="LiveId" clId="{EF952460-C8FB-4D8B-8217-931FBF6EC138}" dt="2026-04-04T16:00:34.963" v="90" actId="478"/>
          <ac:spMkLst>
            <pc:docMk/>
            <pc:sldMk cId="0" sldId="263"/>
            <ac:spMk id="15" creationId="{00000000-0000-0000-0000-000000000000}"/>
          </ac:spMkLst>
        </pc:spChg>
        <pc:spChg chg="del mod">
          <ac:chgData name="Bhargav siyyadri" userId="811459fc17ae14f9" providerId="LiveId" clId="{EF952460-C8FB-4D8B-8217-931FBF6EC138}" dt="2026-04-04T16:00:30.266" v="87" actId="478"/>
          <ac:spMkLst>
            <pc:docMk/>
            <pc:sldMk cId="0" sldId="263"/>
            <ac:spMk id="16" creationId="{00000000-0000-0000-0000-000000000000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9389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0" y="64008"/>
            <a:ext cx="365760" cy="5015484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7132320" y="36576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7452360" y="36576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772400" y="36576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092440" y="36576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8412480" y="36576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132320" y="685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452360" y="685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772400" y="685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8092440" y="685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412480" y="68580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132320" y="100584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452360" y="100584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400" y="100584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8092440" y="100584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412480" y="100584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7132320" y="132588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452360" y="132588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7772400" y="132588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092440" y="132588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412480" y="132588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32320" y="16459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7452360" y="16459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772400" y="16459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8092440" y="16459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8412480" y="1645920"/>
            <a:ext cx="73152" cy="73152"/>
          </a:xfrm>
          <a:prstGeom prst="ellipse">
            <a:avLst/>
          </a:prstGeom>
          <a:solidFill>
            <a:srgbClr val="00B4D8">
              <a:alpha val="40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40080" y="640080"/>
            <a:ext cx="5303520" cy="20071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FPGA-Accelerated Object Detection and Counting System using Pynq-Z2 board</a:t>
            </a:r>
            <a:endParaRPr lang="en-US" sz="3500" dirty="0"/>
          </a:p>
        </p:txBody>
      </p:sp>
      <p:sp>
        <p:nvSpPr>
          <p:cNvPr id="31" name="Text 29"/>
          <p:cNvSpPr/>
          <p:nvPr/>
        </p:nvSpPr>
        <p:spPr>
          <a:xfrm>
            <a:off x="640080" y="288036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+ PL Implementation on PYNQ-Z2 Board using AXI DMA &amp; YOLOv3-tiny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640080" y="370332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640080" y="3703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2023.1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331720" y="370332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331720" y="3703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 v2.7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023360" y="370332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023360" y="3703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715000" y="370332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5715000" y="3703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YOLOv3-tiny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406640" y="3703320"/>
            <a:ext cx="1554480" cy="347472"/>
          </a:xfrm>
          <a:prstGeom prst="roundRect">
            <a:avLst>
              <a:gd name="adj" fmla="val 26316"/>
            </a:avLst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7406640" y="370332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DNN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40080" y="44805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100" dirty="0"/>
          </a:p>
        </p:txBody>
      </p:sp>
      <p:pic>
        <p:nvPicPr>
          <p:cNvPr id="43" name="Picture 42" descr="pynqz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365760"/>
            <a:ext cx="3291840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grpSpPr/>
      <p:sp>
        <p:nvSpPr>
          <p:cNvPr id="1" name="Rectangl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64008"/>
            <a:ext cx="365760" cy="501548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09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Hardware Platform — PYNQ-Z2 Board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713232"/>
            <a:ext cx="4206240" cy="37490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937760" y="713232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B4D8"/>
                </a:solidFill>
                <a:latin typeface="Calibri"/>
              </a:rPr>
              <a:t>Board Specifications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4937760" y="1143000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937760" y="1143000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47488" y="114300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SoC: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143000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Xilinx Zynq-7000 (xc7z020clg400-1)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937760" y="1563624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937760" y="1563624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47488" y="156362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PS: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53328" y="1563624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Dual-core ARM Cortex-A9 @ 650 MHz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984248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984248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47488" y="198424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PL: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53328" y="1984248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85K logic cells FPGA fabric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37760" y="2404872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937760" y="2404872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7488" y="2404872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RAM: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53328" y="2404872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512 MB DDR3 Memory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937760" y="2825496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937760" y="2825496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47488" y="2825496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OS: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2825496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PYNQ v2.7 flashed on SD card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3246120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937760" y="3246120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3246120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Interface: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246120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USB, HDMI, Ethernet, Pmod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666744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37760" y="3666744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47488" y="3666744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Camera: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53328" y="3666744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USB Camera via USB-A port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4087368"/>
            <a:ext cx="3931920" cy="374904"/>
          </a:xfrm>
          <a:prstGeom prst="rect">
            <a:avLst/>
          </a:prstGeom>
          <a:solidFill>
            <a:srgbClr val="132337"/>
          </a:solidFill>
          <a:ln w="12700">
            <a:solidFill>
              <a:srgbClr val="1B4F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37760" y="4087368"/>
            <a:ext cx="64008" cy="37490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47488" y="4087368"/>
            <a:ext cx="100584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>
                <a:solidFill>
                  <a:srgbClr val="00B4D8"/>
                </a:solidFill>
                <a:latin typeface="Calibri"/>
              </a:rPr>
              <a:t>Language: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53328" y="4087368"/>
            <a:ext cx="2743200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FFFFFF"/>
                </a:solidFill>
                <a:latin typeface="Calibri"/>
              </a:rPr>
              <a:t>Python 3.8 + Jupyter Notebook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solidFill>
            <a:srgbClr val="132337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46177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90A4AE"/>
                </a:solidFill>
                <a:latin typeface="Calibri"/>
              </a:rPr>
              <a:t>The Zynq SoC enables true PS+PL co-design — ARM CPU and FPGA fabric on a single chip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"/>
            <a:ext cx="365760" cy="5015484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09728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85800"/>
            <a:ext cx="786384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685800"/>
            <a:ext cx="64008" cy="8046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704088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  <a:latin typeface="Calibri"/>
              </a:rPr>
              <a:t>Problem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941832"/>
            <a:ext cx="75438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Traditional object detection runs on CPUs or GPUs. Embedded FPGA platforms like PYNQ-Z2 offer a unique opportunity to split processing between ARM CPU (PS) and FPGA fabric (PL) — enabling real-time detection on low-power hardware.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572768"/>
            <a:ext cx="7863840" cy="658368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1572768"/>
            <a:ext cx="64008" cy="65836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59105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39C12"/>
                </a:solidFill>
                <a:latin typeface="Calibri"/>
              </a:rPr>
              <a:t>Why PYNQ-Z2?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1819656"/>
            <a:ext cx="7543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PYNQ-Z2 combines a Xilinx Zynq SoC with a Python-friendly framework, making it ideal for PS+PL co-design projects. It supports AXI DMA, Jupyter Notebook, and hardware overlays — perfect for real-time embedded vision.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331720"/>
            <a:ext cx="2514600" cy="210312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" y="2331720"/>
            <a:ext cx="2514600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Objective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2816352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Implement AXI DMA-based PS to PL data transfer on PYNQ-Z2 using Vivado 2023.1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2331720"/>
            <a:ext cx="2514600" cy="2103120"/>
          </a:xfrm>
          <a:prstGeom prst="rect">
            <a:avLst/>
          </a:prstGeom>
          <a:solidFill>
            <a:srgbClr val="132337"/>
          </a:solidFill>
          <a:ln w="127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83280" y="2331720"/>
            <a:ext cx="2514600" cy="41148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Objective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93008" y="2816352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Capture real-time video from USB camera and run YOLOv3-tiny object detection on ARM CPU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331720"/>
            <a:ext cx="2514600" cy="210312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80" y="2331720"/>
            <a:ext cx="2514600" cy="41148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331720"/>
            <a:ext cx="2514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  <a:latin typeface="Calibri"/>
              </a:rPr>
              <a:t>Objective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36208" y="2816352"/>
            <a:ext cx="2286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Demonstrate a complete PS+PL co-design with live bounding box output and frame logging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617720"/>
            <a:ext cx="7863840" cy="347472"/>
          </a:xfrm>
          <a:prstGeom prst="rect">
            <a:avLst/>
          </a:prstGeom>
          <a:solidFill>
            <a:srgbClr val="132337"/>
          </a:solidFill>
          <a:ln w="12700">
            <a:solidFill>
              <a:srgbClr val="90A4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617720"/>
            <a:ext cx="7772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0A4AE"/>
                </a:solidFill>
                <a:latin typeface="Calibri"/>
              </a:rPr>
              <a:t>Scope: PYNQ-Z2  |  Vivado 2023.1  |  Python 3.8  |  YOLOv3-tiny (80 COCO classes)  |  USB Camera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04672"/>
            <a:ext cx="7863840" cy="804672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04672"/>
            <a:ext cx="64008" cy="80467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8229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07899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real-time object detection system on PYNQ-Z2 that uses both the ARM Processing System (PS) and FPGA Programmable Logic (PL) together via AXI DMA.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2514600" cy="329184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7830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Side (FPGA)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24414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 DMA block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30083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 Stream FIFO loopback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357530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Generates .bit + .hwh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414223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Vivado 2023.1 design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383280" y="1783080"/>
            <a:ext cx="2514600" cy="3291840"/>
          </a:xfrm>
          <a:prstGeom prst="rect">
            <a:avLst/>
          </a:prstGeom>
          <a:solidFill>
            <a:srgbClr val="132337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83280" y="1783080"/>
            <a:ext cx="2514600" cy="566928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7830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Side (ARM CPU)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520440" y="24414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USB camera capture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20440" y="30083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CLAHE brightness fix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520440" y="357530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YOLOv3-tiny inference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20440" y="414223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OpenCV DNN engine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26480" y="1783080"/>
            <a:ext cx="2514600" cy="329184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126480" y="1783080"/>
            <a:ext cx="2514600" cy="56692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26480" y="1783080"/>
            <a:ext cx="2514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↔ PL Interface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63640" y="2441448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AXI DMA transfer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008376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64×64 thumbnail sent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63640" y="3575304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4096 bytes per frame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63640" y="4142232"/>
            <a:ext cx="2240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Within 16KB DMA limit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Data Flow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914400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📷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17320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45336" y="914400"/>
            <a:ext cx="9144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545336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(OpenCV)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59736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87752" y="914400"/>
            <a:ext cx="9144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87752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✨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CLAHE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02152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30168" y="914400"/>
            <a:ext cx="91440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30168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➡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Send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→ PL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44568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72584" y="914400"/>
            <a:ext cx="914400" cy="1005840"/>
          </a:xfrm>
          <a:prstGeom prst="rect">
            <a:avLst/>
          </a:prstGeom>
          <a:solidFill>
            <a:srgbClr val="E74C3C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672584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FPGA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Loopback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586984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0" y="914400"/>
            <a:ext cx="914400" cy="1005840"/>
          </a:xfrm>
          <a:prstGeom prst="rect">
            <a:avLst/>
          </a:prstGeom>
          <a:solidFill>
            <a:srgbClr val="F39C12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715000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⬅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Recv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 → PS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629400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57416" y="914400"/>
            <a:ext cx="914400" cy="1005840"/>
          </a:xfrm>
          <a:prstGeom prst="rect">
            <a:avLst/>
          </a:prstGeom>
          <a:solidFill>
            <a:srgbClr val="00B4D8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757416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671816" y="1344168"/>
            <a:ext cx="128016" cy="14630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99832" y="914400"/>
            <a:ext cx="914400" cy="1005840"/>
          </a:xfrm>
          <a:prstGeom prst="rect">
            <a:avLst/>
          </a:prstGeom>
          <a:solidFill>
            <a:srgbClr val="2ECC71"/>
          </a:solidFill>
          <a:ln w="12700">
            <a:solidFill>
              <a:srgbClr val="FFFF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799832" y="914400"/>
            <a:ext cx="914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💾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JPEG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2148840"/>
            <a:ext cx="7863840" cy="91440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0080" y="2148840"/>
            <a:ext cx="64008" cy="91440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217627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Buffer Challenge &amp; Fix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77240" y="2487168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(640×480×3) = 921,600 bytes  |  DMA limit = 16,383 bytes  →  Send 64×64 grayscale = 4,096 bytes  ✔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" y="3246120"/>
            <a:ext cx="7863840" cy="155448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8229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Stack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22960" y="3749040"/>
            <a:ext cx="14173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22960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 v2.7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233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/ Framework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395728" y="3749040"/>
            <a:ext cx="14173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2395728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3.8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2395728" y="4233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968496" y="3749040"/>
            <a:ext cx="14173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3968496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OpenCV 4.2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3968496" y="4233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DNN + Vision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541264" y="3749040"/>
            <a:ext cx="14173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5541264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5541264" y="4233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ops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114032" y="3749040"/>
            <a:ext cx="1417320" cy="914400"/>
          </a:xfrm>
          <a:prstGeom prst="rect">
            <a:avLst/>
          </a:prstGeom>
          <a:solidFill>
            <a:srgbClr val="1B4F72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7114032" y="3794760"/>
            <a:ext cx="1417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PYNQ lib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7114032" y="4233672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Overlay / DMA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Vivado Block Design (Vivado 2023.1)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777240"/>
            <a:ext cx="5486400" cy="406908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822960"/>
            <a:ext cx="5394960" cy="3977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63640" y="7772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Blocks Used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263640" y="123444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263640" y="1234440"/>
            <a:ext cx="64008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0" y="12344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ZYNQ7 PS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0" y="14904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CPU + HP0 AXI port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263640" y="1828800"/>
            <a:ext cx="64008" cy="5212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00800" y="182880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DMA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400800" y="208483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transfer engine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263640" y="242316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63640" y="2423160"/>
            <a:ext cx="64008" cy="5212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400800" y="24231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Stream FIFO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400800" y="267919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loopback buffer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6263640" y="301752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263640" y="3017520"/>
            <a:ext cx="64008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00800" y="301752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 Interconnect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6400800" y="327355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 routing (×2)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6263640" y="361188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6263640" y="3611880"/>
            <a:ext cx="64008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00800" y="361188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 Sys Reset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6400800" y="386791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&amp; reset manager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6263640" y="4206240"/>
            <a:ext cx="2651760" cy="521208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6263640" y="4206240"/>
            <a:ext cx="64008" cy="5212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00800" y="420624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XLConcat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400800" y="44622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 aggregator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Detection Output Frames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02920" y="777240"/>
            <a:ext cx="2743200" cy="397764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502920" y="3657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6/30 — 9 Objects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50292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person · bottle · keyboard · cup · mouse · chair (×2)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777240"/>
            <a:ext cx="2743200" cy="397764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Text 7"/>
          <p:cNvSpPr/>
          <p:nvPr/>
        </p:nvSpPr>
        <p:spPr>
          <a:xfrm>
            <a:off x="3383280" y="3657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9/30 — 8 Objects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8328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· keyboard · mouse · cup · bottle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263640" y="777240"/>
            <a:ext cx="2743200" cy="397764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263640" y="365760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19/30 — 4 Objects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263640" y="3995928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· laptop · bottle · chair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502920" y="4407408"/>
            <a:ext cx="8321040" cy="36576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594360" y="440740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threshold: 0.15  |  NMS threshold: 0.30  |  Model: YOLOv3-tiny  |  80 COCO classes  |  Input: 416×416</a:t>
            </a:r>
            <a:endParaRPr lang="en-US" sz="1000" dirty="0"/>
          </a:p>
        </p:txBody>
      </p:sp>
      <p:pic>
        <p:nvPicPr>
          <p:cNvPr id="19" name="Picture 18" descr="new_out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822960"/>
            <a:ext cx="2651760" cy="278892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822960"/>
            <a:ext cx="2651760" cy="278892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822960"/>
            <a:ext cx="2651760" cy="2788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 &amp; Solutions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822960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822960"/>
            <a:ext cx="64008" cy="1325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868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04672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onnxruntime not available for ARM 32-bit (armv7l)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04672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0467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OpenCV DNN — already installed on PYNQ v2.7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92040" y="822960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92040" y="822960"/>
            <a:ext cx="64008" cy="1325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56632" y="868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56632" y="10972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YOLOv5n ONNX uses FLOAT16 — unsupported by OpenCV 4.2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56632" y="146304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56632" y="16916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Switched to YOLOv3-tiny (.cfg + .weights) — fully compatible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267712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2267712"/>
            <a:ext cx="64008" cy="13258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313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04672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buffer limit 16,383 bytes vs frame 921,600 bytes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04672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04672" y="3136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64×64 grayscale thumbnail = 4,096 bytes through DMA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92040" y="2267712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92040" y="2267712"/>
            <a:ext cx="64008" cy="13258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56632" y="231343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056632" y="254203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on PYNQ board — pip install fails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56632" y="29077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56632" y="3136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on PC and uploaded via Jupyter file browser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712464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0080" y="3712464"/>
            <a:ext cx="64008" cy="1325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4672" y="3758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804672" y="3986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detection in backlit and dark scenes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04672" y="4352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04672" y="4581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CLAHE contrast enhancement before inference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92040" y="3712464"/>
            <a:ext cx="4023360" cy="1325880"/>
          </a:xfrm>
          <a:prstGeom prst="rect">
            <a:avLst/>
          </a:prstGeom>
          <a:solidFill>
            <a:srgbClr val="132337"/>
          </a:solidFill>
          <a:ln w="12700">
            <a:solidFill>
              <a:srgbClr val="2ECC71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92040" y="3712464"/>
            <a:ext cx="64008" cy="1325880"/>
          </a:xfrm>
          <a:prstGeom prst="rect">
            <a:avLst/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056632" y="375818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56632" y="398678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bottle misdetected as 'vase'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56632" y="4352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056632" y="458114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LABEL_REMAP: vase→bottle, tv→laptop, bowl→cup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65760" cy="5079492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"/>
            <a:ext cx="7772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94360" y="804672"/>
            <a:ext cx="1463040" cy="10515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94360" y="822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194560" y="804672"/>
            <a:ext cx="1463040" cy="10515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94560" y="822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1945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Objects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794760" y="804672"/>
            <a:ext cx="1463040" cy="10515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794760" y="822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7947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394960" y="804672"/>
            <a:ext cx="1463040" cy="10515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394960" y="822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53949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FPS 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CPU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95160" y="804672"/>
            <a:ext cx="1463040" cy="1051560"/>
          </a:xfrm>
          <a:prstGeom prst="rect">
            <a:avLst/>
          </a:prstGeom>
          <a:solidFill>
            <a:srgbClr val="132337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95160" y="822960"/>
            <a:ext cx="14630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KB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95160" y="141732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DMA Transfer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Frame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94360" y="2029968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Achieved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4360" y="245059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PS + PL co-design on real PYNQ-Z2 hardware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283464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AXI DMA transfer working (PS → PL → PS)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4360" y="3218688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Real-time USB camera capture &amp; 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602736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YOLOv3-tiny detecting 80 COCO classes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4360" y="3986784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CLAHE enhancement fixes dark/backlit scenes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94360" y="437083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Live frame counter &amp; detection log in Jupyter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2029968"/>
            <a:ext cx="3383280" cy="2926080"/>
          </a:xfrm>
          <a:prstGeom prst="rect">
            <a:avLst/>
          </a:prstGeom>
          <a:solidFill>
            <a:srgbClr val="132337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2029968"/>
            <a:ext cx="3383280" cy="5029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0" y="20299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623560" y="2624328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HLS preprocessing IP block in PL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23560" y="3063240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Larger DMA buffer in Vivado design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623560" y="3502152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Full YOLOv3 for better accuracy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623560" y="3941064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HDMI output for monitor display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23560" y="4379976"/>
            <a:ext cx="3108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GPIO LED triggers on detections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0" y="457200"/>
            <a:ext cx="3657600" cy="3657600"/>
          </a:xfrm>
          <a:prstGeom prst="ellipse">
            <a:avLst/>
          </a:prstGeom>
          <a:solidFill>
            <a:srgbClr val="1B4F72">
              <a:alpha val="25000"/>
            </a:srgbClr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588</Words>
  <Application>Microsoft Office PowerPoint</Application>
  <PresentationFormat>On-screen Show (16:9)</PresentationFormat>
  <Paragraphs>148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FPGA-Based Real-Time Object Detection on PYNQ</dc:title>
  <dc:subject>PptxGenJS Presentation</dc:subject>
  <dc:creator>PptxGenJS</dc:creator>
  <cp:lastModifiedBy>Bhargav siyyadri</cp:lastModifiedBy>
  <cp:revision>1</cp:revision>
  <dcterms:created xsi:type="dcterms:W3CDTF">2026-04-04T15:45:44Z</dcterms:created>
  <dcterms:modified xsi:type="dcterms:W3CDTF">2026-04-04T16:04:56Z</dcterms:modified>
</cp:coreProperties>
</file>